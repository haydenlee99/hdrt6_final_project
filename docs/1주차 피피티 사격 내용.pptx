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7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737373"/>
                </a:solidFill>
                <a:latin typeface="Malgun Gothic"/>
              </a:rPr>
              <a:t>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881360" cy="42165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 dirty="0">
                <a:solidFill>
                  <a:srgbClr val="000000"/>
                </a:solidFill>
                <a:latin typeface="Malgun Gothic"/>
              </a:rPr>
              <a:t>5. </a:t>
            </a:r>
            <a:r>
              <a:rPr lang="ko-KR" altLang="en-US" sz="2500" b="1" dirty="0">
                <a:solidFill>
                  <a:srgbClr val="000000"/>
                </a:solidFill>
                <a:latin typeface="Malgun Gothic"/>
              </a:rPr>
              <a:t>탱크 자세 및 사격 제어 시스템 </a:t>
            </a:r>
            <a:endParaRPr sz="2500" b="1" dirty="0">
              <a:solidFill>
                <a:srgbClr val="000000"/>
              </a:solidFill>
              <a:latin typeface="Malgun Gothic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94360" y="1024128"/>
            <a:ext cx="1097280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1097280"/>
            <a:ext cx="10789920" cy="190821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r>
              <a:rPr lang="ko-KR" altLang="en-US" sz="1000" dirty="0">
                <a:solidFill>
                  <a:srgbClr val="737373"/>
                </a:solidFill>
                <a:latin typeface="Malgun Gothic"/>
              </a:rPr>
              <a:t>신속</a:t>
            </a:r>
            <a:r>
              <a:rPr lang="en-US" altLang="ko-KR" sz="1000" dirty="0">
                <a:solidFill>
                  <a:srgbClr val="737373"/>
                </a:solidFill>
                <a:latin typeface="Malgun Gothic"/>
              </a:rPr>
              <a:t>·</a:t>
            </a:r>
            <a:r>
              <a:rPr lang="ko-KR" altLang="en-US" sz="1000" dirty="0">
                <a:solidFill>
                  <a:srgbClr val="737373"/>
                </a:solidFill>
                <a:latin typeface="Malgun Gothic"/>
              </a:rPr>
              <a:t>정확한 목표 명중을 위한 사격 제어 수행</a:t>
            </a:r>
            <a:endParaRPr sz="1000" b="0" dirty="0">
              <a:solidFill>
                <a:srgbClr val="737373"/>
              </a:solidFill>
              <a:latin typeface="Malgun Gothi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83920" y="3275928"/>
            <a:ext cx="10424160" cy="50292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algun Gothic"/>
              </a:rPr>
              <a:t>사격</a:t>
            </a:r>
            <a:r>
              <a:rPr sz="1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Malgun Gothic"/>
              </a:rPr>
              <a:t>시스템</a:t>
            </a:r>
            <a:r>
              <a:rPr sz="1400" b="1" dirty="0">
                <a:solidFill>
                  <a:srgbClr val="FFFFFF"/>
                </a:solidFill>
                <a:latin typeface="Malgun Gothic"/>
              </a:rPr>
              <a:t>: </a:t>
            </a:r>
            <a:r>
              <a:rPr lang="ko-KR" altLang="en-US" sz="1400" b="1" dirty="0">
                <a:solidFill>
                  <a:srgbClr val="FFFFFF"/>
                </a:solidFill>
                <a:latin typeface="Malgun Gothic"/>
              </a:rPr>
              <a:t>조준 </a:t>
            </a:r>
            <a:r>
              <a:rPr sz="1400" b="1" dirty="0">
                <a:solidFill>
                  <a:srgbClr val="FFFFFF"/>
                </a:solidFill>
                <a:latin typeface="Malgun Gothic"/>
              </a:rPr>
              <a:t>→ </a:t>
            </a:r>
            <a:r>
              <a:rPr lang="ko-KR" altLang="en-US" sz="1400" b="1" dirty="0">
                <a:solidFill>
                  <a:srgbClr val="FFFFFF"/>
                </a:solidFill>
                <a:latin typeface="Malgun Gothic"/>
              </a:rPr>
              <a:t>사격</a:t>
            </a:r>
            <a:r>
              <a:rPr lang="en-US" sz="1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</a:rPr>
              <a:t>→ HP/</a:t>
            </a:r>
            <a:r>
              <a:rPr lang="ko-KR" altLang="en-US" sz="1400" b="1" dirty="0">
                <a:solidFill>
                  <a:srgbClr val="FFFFFF"/>
                </a:solidFill>
                <a:latin typeface="Malgun Gothic"/>
              </a:rPr>
              <a:t>탄약</a:t>
            </a:r>
            <a:r>
              <a:rPr sz="1400" b="1" dirty="0">
                <a:solidFill>
                  <a:srgbClr val="FFFFFF"/>
                </a:solidFill>
                <a:latin typeface="Malgun Gothic"/>
              </a:rPr>
              <a:t>/</a:t>
            </a:r>
            <a:r>
              <a:rPr sz="1400" b="1" dirty="0" err="1">
                <a:solidFill>
                  <a:srgbClr val="FFFFFF"/>
                </a:solidFill>
                <a:latin typeface="Malgun Gothic"/>
              </a:rPr>
              <a:t>재장전</a:t>
            </a:r>
            <a:r>
              <a:rPr sz="1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Malgun Gothic"/>
              </a:rPr>
              <a:t>갱신</a:t>
            </a:r>
            <a:r>
              <a:rPr sz="1400" b="1" dirty="0">
                <a:solidFill>
                  <a:srgbClr val="FFFFFF"/>
                </a:solidFill>
                <a:latin typeface="Malgun Gothic"/>
              </a:rPr>
              <a:t> → 웹 </a:t>
            </a:r>
            <a:r>
              <a:rPr sz="1400" b="1" dirty="0" err="1">
                <a:solidFill>
                  <a:srgbClr val="FFFFFF"/>
                </a:solidFill>
                <a:latin typeface="Malgun Gothic"/>
              </a:rPr>
              <a:t>로그</a:t>
            </a:r>
            <a:r>
              <a:rPr sz="1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Malgun Gothic"/>
              </a:rPr>
              <a:t>전달</a:t>
            </a:r>
            <a:endParaRPr sz="1400" b="1" dirty="0">
              <a:solidFill>
                <a:srgbClr val="FFFFFF"/>
              </a:solidFill>
              <a:latin typeface="Malgun Gothic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59E6B1B7-F38F-4117-3651-B8804738A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37192"/>
              </p:ext>
            </p:extLst>
          </p:nvPr>
        </p:nvGraphicFramePr>
        <p:xfrm>
          <a:off x="868680" y="1502238"/>
          <a:ext cx="10424160" cy="16183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12080">
                  <a:extLst>
                    <a:ext uri="{9D8B030D-6E8A-4147-A177-3AD203B41FA5}">
                      <a16:colId xmlns:a16="http://schemas.microsoft.com/office/drawing/2014/main" val="1112119039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3172947904"/>
                    </a:ext>
                  </a:extLst>
                </a:gridCol>
              </a:tblGrid>
              <a:tr h="4296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952114"/>
                  </a:ext>
                </a:extLst>
              </a:tr>
              <a:tr h="1092565"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ko-KR" dirty="0" err="1"/>
                        <a:t>Body</a:t>
                      </a:r>
                      <a:r>
                        <a:rPr lang="ko-KR" altLang="ko-KR" dirty="0"/>
                        <a:t> / </a:t>
                      </a:r>
                      <a:r>
                        <a:rPr lang="ko-KR" altLang="ko-KR" dirty="0" err="1"/>
                        <a:t>Turret</a:t>
                      </a:r>
                      <a:r>
                        <a:rPr lang="ko-KR" altLang="ko-KR" dirty="0"/>
                        <a:t> 협조 기반 자세 제어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ko-KR" dirty="0" err="1"/>
                        <a:t>Weight</a:t>
                      </a:r>
                      <a:r>
                        <a:rPr lang="ko-KR" altLang="ko-KR" dirty="0"/>
                        <a:t> 기반 </a:t>
                      </a:r>
                      <a:r>
                        <a:rPr lang="ko-KR" altLang="en-US" dirty="0"/>
                        <a:t>안정 제어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ko-KR" dirty="0"/>
                        <a:t>목표 방향 추적 및 </a:t>
                      </a:r>
                      <a:r>
                        <a:rPr lang="ko-KR" altLang="en-US" dirty="0"/>
                        <a:t>빠른 조준</a:t>
                      </a:r>
                      <a:endParaRPr lang="en-US" altLang="ko-KR" dirty="0"/>
                    </a:p>
                    <a:p>
                      <a:pPr marL="285750" marR="0" lvl="0" indent="-28575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dirty="0"/>
                        <a:t>환경 요인 기반 사격 방식 판단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직사 </a:t>
                      </a:r>
                      <a:r>
                        <a:rPr lang="ko-KR" altLang="en-US" dirty="0" err="1"/>
                        <a:t>곡사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재장전 시간</a:t>
                      </a:r>
                      <a:r>
                        <a:rPr lang="en-US" altLang="ko-KR" dirty="0"/>
                        <a:t>(6s) </a:t>
                      </a:r>
                      <a:r>
                        <a:rPr lang="ko-KR" altLang="en-US" dirty="0" err="1"/>
                        <a:t>쿨다운</a:t>
                      </a:r>
                      <a:r>
                        <a:rPr lang="ko-KR" altLang="en-US" dirty="0"/>
                        <a:t> 반영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잔여 탄 정보 전달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334239"/>
                  </a:ext>
                </a:extLst>
              </a:tr>
            </a:tbl>
          </a:graphicData>
        </a:graphic>
      </p:graphicFrame>
      <p:sp>
        <p:nvSpPr>
          <p:cNvPr id="30" name="Rounded Rectangle 22">
            <a:extLst>
              <a:ext uri="{FF2B5EF4-FFF2-40B4-BE49-F238E27FC236}">
                <a16:creationId xmlns:a16="http://schemas.microsoft.com/office/drawing/2014/main" id="{1DB305BD-CAAB-1432-48D5-068FF0F7CA43}"/>
              </a:ext>
            </a:extLst>
          </p:cNvPr>
          <p:cNvSpPr/>
          <p:nvPr/>
        </p:nvSpPr>
        <p:spPr>
          <a:xfrm>
            <a:off x="570946" y="5135880"/>
            <a:ext cx="11019628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00" b="0" dirty="0" err="1">
                <a:solidFill>
                  <a:srgbClr val="000000"/>
                </a:solidFill>
                <a:latin typeface="Malgun Gothic"/>
              </a:rPr>
              <a:t>예시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: </a:t>
            </a:r>
            <a:r>
              <a:rPr lang="en-US" sz="1200" b="0" dirty="0">
                <a:solidFill>
                  <a:srgbClr val="000000"/>
                </a:solidFill>
                <a:latin typeface="Malgun Gothic"/>
              </a:rPr>
              <a:t>{</a:t>
            </a:r>
            <a:r>
              <a:rPr lang="en-US" sz="1200" b="0" dirty="0" err="1">
                <a:solidFill>
                  <a:srgbClr val="000000"/>
                </a:solidFill>
                <a:latin typeface="Malgun Gothic"/>
              </a:rPr>
              <a:t>impact_position</a:t>
            </a:r>
            <a:r>
              <a:rPr lang="en-US" sz="1200" b="0" dirty="0">
                <a:solidFill>
                  <a:srgbClr val="000000"/>
                </a:solidFill>
                <a:latin typeface="Malgun Gothic"/>
              </a:rPr>
              <a:t>=[150.02, 7.89, 192.54], hit=terrain, </a:t>
            </a:r>
            <a:r>
              <a:rPr lang="en-US" sz="1200" b="0" dirty="0" err="1">
                <a:solidFill>
                  <a:srgbClr val="000000"/>
                </a:solidFill>
                <a:latin typeface="Malgun Gothic"/>
              </a:rPr>
              <a:t>tank_position</a:t>
            </a:r>
            <a:r>
              <a:rPr lang="en-US" sz="1200" b="0" dirty="0">
                <a:solidFill>
                  <a:srgbClr val="000000"/>
                </a:solidFill>
                <a:latin typeface="Malgun Gothic"/>
              </a:rPr>
              <a:t>=[150.0, 7.99, 150.0], turret=[0.0, 0.0], speed=0, ammo=39, </a:t>
            </a:r>
            <a:r>
              <a:rPr lang="en-US" sz="1200" b="0" dirty="0" err="1">
                <a:solidFill>
                  <a:srgbClr val="000000"/>
                </a:solidFill>
                <a:latin typeface="Malgun Gothic"/>
              </a:rPr>
              <a:t>fire_state</a:t>
            </a:r>
            <a:r>
              <a:rPr lang="en-US" sz="1200" b="0" dirty="0">
                <a:solidFill>
                  <a:srgbClr val="000000"/>
                </a:solidFill>
                <a:latin typeface="Malgun Gothic"/>
              </a:rPr>
              <a:t>: Fire</a:t>
            </a:r>
            <a:r>
              <a:rPr sz="1200" b="0" dirty="0">
                <a:solidFill>
                  <a:srgbClr val="000000"/>
                </a:solidFill>
                <a:latin typeface="Malgun Gothic"/>
              </a:rPr>
              <a:t>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4291AF-14A0-07EC-5070-D9B0372D5300}"/>
              </a:ext>
            </a:extLst>
          </p:cNvPr>
          <p:cNvSpPr txBox="1"/>
          <p:nvPr/>
        </p:nvSpPr>
        <p:spPr>
          <a:xfrm>
            <a:off x="765048" y="3900288"/>
            <a:ext cx="2042807" cy="1114151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r>
              <a:rPr lang="ko-KR" altLang="en-US" sz="1000" dirty="0">
                <a:solidFill>
                  <a:srgbClr val="737373"/>
                </a:solidFill>
                <a:latin typeface="Malgun Gothic"/>
              </a:rPr>
              <a:t>사격 필요 상황</a:t>
            </a:r>
            <a:endParaRPr lang="en-US" altLang="ko-KR" sz="1000" dirty="0">
              <a:solidFill>
                <a:srgbClr val="737373"/>
              </a:solidFill>
              <a:latin typeface="Malgun Gothic"/>
            </a:endParaRPr>
          </a:p>
          <a:p>
            <a:r>
              <a:rPr lang="en-US" altLang="ko-KR" sz="1000" b="0" dirty="0">
                <a:solidFill>
                  <a:srgbClr val="737373"/>
                </a:solidFill>
                <a:latin typeface="Malgun Gothic"/>
              </a:rPr>
              <a:t>- </a:t>
            </a:r>
            <a:r>
              <a:rPr lang="ko-KR" altLang="en-US" sz="1000" b="0" dirty="0">
                <a:solidFill>
                  <a:srgbClr val="737373"/>
                </a:solidFill>
                <a:latin typeface="Malgun Gothic"/>
              </a:rPr>
              <a:t>적 타격</a:t>
            </a:r>
            <a:endParaRPr lang="en-US" altLang="ko-KR" sz="1000" b="0" dirty="0">
              <a:solidFill>
                <a:srgbClr val="737373"/>
              </a:solidFill>
              <a:latin typeface="Malgun Gothic"/>
            </a:endParaRPr>
          </a:p>
          <a:p>
            <a:r>
              <a:rPr lang="en-US" altLang="ko-KR" sz="1000" dirty="0">
                <a:solidFill>
                  <a:srgbClr val="737373"/>
                </a:solidFill>
                <a:latin typeface="Malgun Gothic"/>
              </a:rPr>
              <a:t>- </a:t>
            </a:r>
            <a:r>
              <a:rPr lang="ko-KR" altLang="en-US" sz="1000" dirty="0">
                <a:solidFill>
                  <a:srgbClr val="737373"/>
                </a:solidFill>
                <a:latin typeface="Malgun Gothic"/>
              </a:rPr>
              <a:t>장애물 파괴</a:t>
            </a:r>
            <a:endParaRPr lang="en-US" altLang="ko-KR" sz="1000" dirty="0">
              <a:solidFill>
                <a:srgbClr val="737373"/>
              </a:solidFill>
              <a:latin typeface="Malgun Gothic"/>
            </a:endParaRPr>
          </a:p>
          <a:p>
            <a:pPr marL="171450" indent="-171450">
              <a:buFontTx/>
              <a:buChar char="-"/>
            </a:pPr>
            <a:endParaRPr lang="en-US" sz="1000" b="0" dirty="0">
              <a:solidFill>
                <a:srgbClr val="737373"/>
              </a:solidFill>
              <a:latin typeface="Malgun Gothic"/>
            </a:endParaRPr>
          </a:p>
          <a:p>
            <a:r>
              <a:rPr lang="ko-KR" altLang="en-US" sz="1000" dirty="0">
                <a:solidFill>
                  <a:srgbClr val="737373"/>
                </a:solidFill>
                <a:latin typeface="Malgun Gothic"/>
              </a:rPr>
              <a:t>교전 중 전술 행동</a:t>
            </a:r>
            <a:endParaRPr lang="en-US" altLang="ko-KR" sz="1000" dirty="0">
              <a:solidFill>
                <a:srgbClr val="737373"/>
              </a:solidFill>
              <a:latin typeface="Malgun Gothic"/>
            </a:endParaRPr>
          </a:p>
          <a:p>
            <a:r>
              <a:rPr lang="en-US" altLang="ko-KR" sz="1000" b="0" dirty="0">
                <a:solidFill>
                  <a:srgbClr val="737373"/>
                </a:solidFill>
                <a:latin typeface="Malgun Gothic"/>
              </a:rPr>
              <a:t>- </a:t>
            </a:r>
            <a:r>
              <a:rPr lang="ko-KR" altLang="en-US" sz="1000" b="0" dirty="0">
                <a:solidFill>
                  <a:srgbClr val="737373"/>
                </a:solidFill>
                <a:latin typeface="Malgun Gothic"/>
              </a:rPr>
              <a:t>사격 후 위치 이탈</a:t>
            </a:r>
            <a:endParaRPr lang="en-US" altLang="ko-KR" sz="1000" dirty="0">
              <a:solidFill>
                <a:srgbClr val="737373"/>
              </a:solidFill>
              <a:latin typeface="Malgun Gothic"/>
            </a:endParaRPr>
          </a:p>
          <a:p>
            <a:r>
              <a:rPr lang="en-US" altLang="ko-KR" sz="1000" b="0" dirty="0">
                <a:solidFill>
                  <a:srgbClr val="737373"/>
                </a:solidFill>
                <a:latin typeface="Malgun Gothic"/>
              </a:rPr>
              <a:t>- Body </a:t>
            </a:r>
            <a:r>
              <a:rPr lang="ko-KR" altLang="en-US" sz="1000" b="0" dirty="0">
                <a:solidFill>
                  <a:srgbClr val="737373"/>
                </a:solidFill>
                <a:latin typeface="Malgun Gothic"/>
              </a:rPr>
              <a:t>엄폐</a:t>
            </a:r>
            <a:endParaRPr sz="1000" b="0" dirty="0">
              <a:solidFill>
                <a:srgbClr val="737373"/>
              </a:solidFill>
              <a:latin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E90B37-D9F1-AD70-5DF4-2C67545D96B0}"/>
              </a:ext>
            </a:extLst>
          </p:cNvPr>
          <p:cNvSpPr txBox="1"/>
          <p:nvPr/>
        </p:nvSpPr>
        <p:spPr>
          <a:xfrm>
            <a:off x="3009484" y="3900288"/>
            <a:ext cx="2449207" cy="806375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r>
              <a:rPr lang="ko-KR" altLang="en-US" sz="1000" dirty="0">
                <a:solidFill>
                  <a:srgbClr val="737373"/>
                </a:solidFill>
                <a:latin typeface="Malgun Gothic"/>
              </a:rPr>
              <a:t>조준 제어</a:t>
            </a:r>
            <a:endParaRPr lang="en-US" altLang="ko-KR" sz="1000" dirty="0">
              <a:solidFill>
                <a:srgbClr val="737373"/>
              </a:solidFill>
              <a:latin typeface="Malgun Gothic"/>
            </a:endParaRPr>
          </a:p>
          <a:p>
            <a:r>
              <a:rPr lang="en-US" altLang="ko-KR" sz="1000" dirty="0">
                <a:solidFill>
                  <a:srgbClr val="737373"/>
                </a:solidFill>
                <a:latin typeface="Malgun Gothic"/>
              </a:rPr>
              <a:t>- </a:t>
            </a:r>
            <a:r>
              <a:rPr lang="ko-KR" altLang="en-US" sz="1000" dirty="0" err="1">
                <a:solidFill>
                  <a:srgbClr val="737373"/>
                </a:solidFill>
                <a:latin typeface="Malgun Gothic"/>
              </a:rPr>
              <a:t>터렛</a:t>
            </a:r>
            <a:r>
              <a:rPr lang="ko-KR" altLang="en-US" sz="1000" dirty="0">
                <a:solidFill>
                  <a:srgbClr val="737373"/>
                </a:solidFill>
                <a:latin typeface="Malgun Gothic"/>
              </a:rPr>
              <a:t> 단독 제어 우선</a:t>
            </a:r>
            <a:endParaRPr lang="en-US" altLang="ko-KR" sz="1000" dirty="0">
              <a:solidFill>
                <a:srgbClr val="737373"/>
              </a:solidFill>
              <a:latin typeface="Malgun Gothic"/>
            </a:endParaRPr>
          </a:p>
          <a:p>
            <a:r>
              <a:rPr lang="en-US" altLang="ko-KR" sz="1000" dirty="0">
                <a:solidFill>
                  <a:srgbClr val="737373"/>
                </a:solidFill>
                <a:latin typeface="Malgun Gothic"/>
              </a:rPr>
              <a:t>- </a:t>
            </a:r>
            <a:r>
              <a:rPr lang="ko-KR" altLang="en-US" sz="1000" dirty="0">
                <a:solidFill>
                  <a:srgbClr val="737373"/>
                </a:solidFill>
                <a:latin typeface="Malgun Gothic"/>
              </a:rPr>
              <a:t>필요시 바디 협조 제어</a:t>
            </a:r>
            <a:endParaRPr lang="en-US" altLang="ko-KR" sz="1000" dirty="0">
              <a:solidFill>
                <a:srgbClr val="737373"/>
              </a:solidFill>
              <a:latin typeface="Malgun Gothic"/>
            </a:endParaRPr>
          </a:p>
          <a:p>
            <a:endParaRPr lang="en-US" altLang="ko-KR" sz="1000" dirty="0">
              <a:solidFill>
                <a:srgbClr val="737373"/>
              </a:solidFill>
              <a:latin typeface="Malgun Gothic"/>
            </a:endParaRPr>
          </a:p>
          <a:p>
            <a:endParaRPr lang="en-US" altLang="ko-KR" sz="1000" dirty="0">
              <a:solidFill>
                <a:srgbClr val="737373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155</Words>
  <Application>Microsoft Office PowerPoint</Application>
  <PresentationFormat>와이드스크린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acorn</dc:creator>
  <cp:keywords/>
  <dc:description>generated using python-pptx</dc:description>
  <cp:lastModifiedBy>acorn</cp:lastModifiedBy>
  <cp:revision>2</cp:revision>
  <dcterms:created xsi:type="dcterms:W3CDTF">2013-01-27T09:14:16Z</dcterms:created>
  <dcterms:modified xsi:type="dcterms:W3CDTF">2026-05-29T07:25:42Z</dcterms:modified>
  <cp:category/>
</cp:coreProperties>
</file>